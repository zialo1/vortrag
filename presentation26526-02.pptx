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6" r:id="rId6"/>
    <p:sldId id="261" r:id="rId7"/>
    <p:sldId id="267" r:id="rId8"/>
    <p:sldId id="270" r:id="rId9"/>
    <p:sldId id="272" r:id="rId10"/>
    <p:sldId id="271" r:id="rId11"/>
    <p:sldId id="269" r:id="rId12"/>
    <p:sldId id="268" r:id="rId13"/>
    <p:sldId id="273" r:id="rId14"/>
    <p:sldId id="275" r:id="rId15"/>
    <p:sldId id="276" r:id="rId16"/>
    <p:sldId id="277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32143"/>
            <a:ext cx="16267825" cy="9079715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H" sz="1676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00" y="-1524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07E86DB-9CC4-9EC9-1B3A-0C9F9B72E2DB}"/>
              </a:ext>
            </a:extLst>
          </p:cNvPr>
          <p:cNvSpPr txBox="1"/>
          <p:nvPr/>
        </p:nvSpPr>
        <p:spPr>
          <a:xfrm>
            <a:off x="1117600" y="1331893"/>
            <a:ext cx="13639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Minimization of Operational Cost ("Wall-Clock Cost" / </a:t>
            </a:r>
            <a:r>
              <a:rPr lang="en-US" sz="2800" b="1" i="0" u="none" strike="noStrike" dirty="0" err="1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Inferenz-Effizienz</a:t>
            </a:r>
            <a:r>
              <a:rPr lang="en-US" sz="2800" b="1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CH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2D5B5D-F01B-D50C-E8EF-8F2E57DB58A8}"/>
              </a:ext>
            </a:extLst>
          </p:cNvPr>
          <p:cNvSpPr txBox="1"/>
          <p:nvPr/>
        </p:nvSpPr>
        <p:spPr>
          <a:xfrm>
            <a:off x="2184400" y="2286000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b="1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NFE</a:t>
            </a:r>
            <a:r>
              <a:rPr lang="en-US" sz="2400" b="0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0" i="1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 of Function Evaluations</a:t>
            </a:r>
            <a:r>
              <a:rPr lang="en-US" sz="2400" b="0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 The total number of separate times the neural network must be executed to construct a single final image.</a:t>
            </a:r>
            <a:endParaRPr lang="en-US" sz="24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buNone/>
            </a:pPr>
            <a:r>
              <a:rPr lang="en-US" sz="2400" b="1" i="0" u="none" strike="noStrike" dirty="0" err="1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Inferenz</a:t>
            </a:r>
            <a:r>
              <a:rPr lang="en-US" sz="2400" b="1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-Zeit (</a:t>
            </a:r>
            <a:r>
              <a:rPr lang="en-US" sz="2400" b="1" i="0" u="none" strike="noStrike" dirty="0" err="1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400" b="1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400" b="0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0" i="1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Latency</a:t>
            </a:r>
            <a:r>
              <a:rPr lang="en-US" sz="2400" b="0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 The actual physical time measured in </a:t>
            </a:r>
            <a:r>
              <a:rPr lang="en-US" sz="2400" b="0" i="0" u="none" strike="noStrike" dirty="0" err="1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millisekunden</a:t>
            </a:r>
            <a:r>
              <a:rPr lang="en-US" sz="2400" b="0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0" i="0" u="none" strike="noStrike" dirty="0" err="1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2400" b="0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required by the hardware to complete the entire generation cycle.</a:t>
            </a:r>
            <a:endParaRPr lang="en-CH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8DCE47D-3CA2-5C04-BFF0-5A33EFA43F46}"/>
              </a:ext>
            </a:extLst>
          </p:cNvPr>
          <p:cNvSpPr txBox="1"/>
          <p:nvPr/>
        </p:nvSpPr>
        <p:spPr>
          <a:xfrm>
            <a:off x="1117600" y="5026731"/>
            <a:ext cx="1341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Mathematical Formulation Stability ("Stability" / </a:t>
            </a:r>
            <a:r>
              <a:rPr lang="en-US" sz="2800" b="1" i="0" u="none" strike="noStrike" dirty="0" err="1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Geometrie</a:t>
            </a:r>
            <a:r>
              <a:rPr lang="en-US" sz="2800" b="1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2800" b="1" i="0" u="none" strike="noStrike" dirty="0" err="1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Pfad-Präzision</a:t>
            </a:r>
            <a:r>
              <a:rPr lang="en-US" sz="2800" b="1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CH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E68EC35-350A-1C2C-91F8-960DD8016189}"/>
              </a:ext>
            </a:extLst>
          </p:cNvPr>
          <p:cNvSpPr txBox="1"/>
          <p:nvPr/>
        </p:nvSpPr>
        <p:spPr>
          <a:xfrm>
            <a:off x="2184400" y="640080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u="none" strike="noStrike" dirty="0" err="1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Abweichung</a:t>
            </a:r>
            <a:r>
              <a:rPr lang="en-US" sz="2400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(MSE) (</a:t>
            </a:r>
            <a:r>
              <a:rPr lang="en-US" sz="2400" i="1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 Squared Error</a:t>
            </a:r>
            <a:r>
              <a:rPr lang="en-US" sz="2400" i="0" u="none" strike="noStrike" dirty="0">
                <a:solidFill>
                  <a:srgbClr val="1B1B1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 A metric measuring how much the model's predicted path drifts from a perfectly straight line between the starting noise and the target image. A stable, straight path minimizes integration errors.</a:t>
            </a:r>
            <a:endParaRPr lang="en-CH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959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32143"/>
            <a:ext cx="16267825" cy="9079715"/>
            <a:chOff x="0" y="0"/>
            <a:chExt cx="23300271" cy="130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00310" cy="13004800"/>
            </a:xfrm>
            <a:custGeom>
              <a:avLst/>
              <a:gdLst/>
              <a:ahLst/>
              <a:cxnLst/>
              <a:rect l="l" t="t" r="r" b="b"/>
              <a:pathLst>
                <a:path w="23300310" h="1300480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CH" sz="1676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C069F4-E030-4D04-E420-D9F4625BB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403" y="0"/>
            <a:ext cx="1189119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9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49161A-8446-C6CF-95A4-0429CEEE7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00" y="1676400"/>
            <a:ext cx="10591800" cy="636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90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4BD15-ACA5-A61D-1887-A03E27E83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014" y="4572000"/>
            <a:ext cx="12136447" cy="3686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069762-BC88-115A-8808-D900B2C7F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554" y="885828"/>
            <a:ext cx="12136446" cy="368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2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956800" cy="9144000"/>
            <a:chOff x="7467600" y="0"/>
            <a:chExt cx="47244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826267" cy="9144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" y="1320800"/>
            <a:ext cx="15036800" cy="6502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82B109-81DE-32B1-389F-8DD4CFE28C54}"/>
              </a:ext>
            </a:extLst>
          </p:cNvPr>
          <p:cNvSpPr txBox="1"/>
          <p:nvPr/>
        </p:nvSpPr>
        <p:spPr>
          <a:xfrm>
            <a:off x="6908805" y="2235200"/>
            <a:ext cx="7518395" cy="467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chemeClr val="tx1">
                    <a:alpha val="55000"/>
                  </a:schemeClr>
                </a:solidFill>
              </a:rPr>
              <a:t>DDPM/RF Models that work on Celeb A64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b="1">
              <a:solidFill>
                <a:schemeClr val="tx1">
                  <a:alpha val="55000"/>
                </a:schemeClr>
              </a:solidFill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>
                    <a:alpha val="55000"/>
                  </a:schemeClr>
                </a:solidFill>
              </a:rPr>
              <a:t>24k Images for training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>
                    <a:alpha val="55000"/>
                  </a:schemeClr>
                </a:solidFill>
              </a:rPr>
              <a:t>½ - 2 days training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>
                    <a:alpha val="55000"/>
                  </a:schemeClr>
                </a:solidFill>
              </a:rPr>
              <a:t>NFE 1000 steps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>
                    <a:alpha val="55000"/>
                  </a:schemeClr>
                </a:solidFill>
              </a:rPr>
              <a:t>Sinusoidal time embedding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>
                    <a:alpha val="55000"/>
                  </a:schemeClr>
                </a:solidFill>
              </a:rPr>
              <a:t>U-net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>
              <a:solidFill>
                <a:schemeClr val="tx1">
                  <a:alpha val="55000"/>
                </a:schemeClr>
              </a:solidFill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61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7C549A-A591-543D-480F-E3F2EAAD2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35" y="3650892"/>
            <a:ext cx="13563210" cy="3413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77AF93-3C61-49C2-5318-088E62E0C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7230407"/>
            <a:ext cx="13566445" cy="17325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B93E29-2DBC-7038-66C4-8C6B4AD93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91" y="-13855"/>
            <a:ext cx="13543354" cy="362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1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/>
          <p:nvPr/>
        </p:nvSpPr>
        <p:spPr>
          <a:xfrm>
            <a:off x="5537200" y="1143000"/>
            <a:ext cx="1307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000" b="1" dirty="0"/>
              <a:t>Image</a:t>
            </a:r>
            <a:r>
              <a:rPr lang="en-US" sz="2400" b="1" dirty="0"/>
              <a:t> </a:t>
            </a:r>
            <a:r>
              <a:rPr lang="en-US" sz="3000" b="1" dirty="0"/>
              <a:t>Quality CelebA64 - 3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574AAE-2AC8-1E62-FDF4-8D733C71A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00" y="3124200"/>
            <a:ext cx="10667999" cy="39665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E6FA5A-55EB-E36E-39F9-1F3E4FABF77F}"/>
              </a:ext>
            </a:extLst>
          </p:cNvPr>
          <p:cNvSpPr/>
          <p:nvPr/>
        </p:nvSpPr>
        <p:spPr>
          <a:xfrm>
            <a:off x="4241800" y="4876800"/>
            <a:ext cx="1066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3085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E5EE1A0-E9B1-A749-2614-1D2DE2BF5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347" y="838200"/>
            <a:ext cx="11126753" cy="82021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64A0F7-0832-618E-4581-5B9A78694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347" y="4648200"/>
            <a:ext cx="10802858" cy="423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27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ECF7E6-BCA2-895C-0A91-40844F71F8E9}"/>
              </a:ext>
            </a:extLst>
          </p:cNvPr>
          <p:cNvSpPr txBox="1"/>
          <p:nvPr/>
        </p:nvSpPr>
        <p:spPr>
          <a:xfrm>
            <a:off x="4851400" y="3124200"/>
            <a:ext cx="350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 dirty="0" err="1"/>
              <a:t>Thank</a:t>
            </a:r>
            <a:r>
              <a:rPr lang="de-CH" sz="4000" b="1" dirty="0"/>
              <a:t> </a:t>
            </a:r>
            <a:r>
              <a:rPr lang="de-CH" sz="4000" b="1" dirty="0" err="1"/>
              <a:t>you</a:t>
            </a:r>
            <a:endParaRPr lang="de-CH" sz="4000" b="1" dirty="0"/>
          </a:p>
        </p:txBody>
      </p:sp>
    </p:spTree>
    <p:extLst>
      <p:ext uri="{BB962C8B-B14F-4D97-AF65-F5344CB8AC3E}">
        <p14:creationId xmlns:p14="http://schemas.microsoft.com/office/powerpoint/2010/main" val="2188450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75054B-528C-7727-BE7D-E3167D271EBF}"/>
              </a:ext>
            </a:extLst>
          </p:cNvPr>
          <p:cNvSpPr txBox="1"/>
          <p:nvPr/>
        </p:nvSpPr>
        <p:spPr>
          <a:xfrm>
            <a:off x="3479800" y="2808238"/>
            <a:ext cx="81254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- Originale DDPM</a:t>
            </a:r>
          </a:p>
          <a:p>
            <a:r>
              <a:rPr lang="de-CH" dirty="0"/>
              <a:t>- Linear  </a:t>
            </a:r>
            <a:r>
              <a:rPr lang="de-CH" dirty="0" err="1"/>
              <a:t>beta</a:t>
            </a:r>
            <a:r>
              <a:rPr lang="de-CH" dirty="0"/>
              <a:t> </a:t>
            </a:r>
            <a:r>
              <a:rPr lang="de-CH" dirty="0" err="1"/>
              <a:t>schedule</a:t>
            </a:r>
            <a:endParaRPr lang="de-CH" dirty="0"/>
          </a:p>
          <a:p>
            <a:r>
              <a:rPr lang="de-CH" dirty="0"/>
              <a:t>- Epsilon </a:t>
            </a:r>
            <a:r>
              <a:rPr lang="de-CH" dirty="0" err="1"/>
              <a:t>prediction</a:t>
            </a:r>
            <a:r>
              <a:rPr lang="de-CH" dirty="0"/>
              <a:t> </a:t>
            </a:r>
            <a:r>
              <a:rPr lang="de-CH" dirty="0" err="1"/>
              <a:t>objective</a:t>
            </a:r>
            <a:endParaRPr lang="de-CH" dirty="0"/>
          </a:p>
          <a:p>
            <a:r>
              <a:rPr lang="en-US" b="1" dirty="0"/>
              <a:t>- </a:t>
            </a:r>
            <a:r>
              <a:rPr lang="en-US" dirty="0" err="1"/>
              <a:t>Maxpooling</a:t>
            </a:r>
            <a:r>
              <a:rPr lang="en-US" dirty="0"/>
              <a:t> </a:t>
            </a:r>
          </a:p>
          <a:p>
            <a:r>
              <a:rPr lang="en-US" dirty="0"/>
              <a:t>- Residual Blocks</a:t>
            </a:r>
          </a:p>
          <a:p>
            <a:pPr marL="285750" indent="-285750">
              <a:buFontTx/>
              <a:buChar char="-"/>
            </a:pPr>
            <a:r>
              <a:rPr lang="en-US" dirty="0"/>
              <a:t>Group Norm</a:t>
            </a:r>
          </a:p>
          <a:p>
            <a:pPr marL="285750" indent="-285750">
              <a:buFontTx/>
              <a:buChar char="-"/>
            </a:pPr>
            <a:r>
              <a:rPr lang="en-US" dirty="0"/>
              <a:t>LOSS MSE</a:t>
            </a:r>
          </a:p>
          <a:p>
            <a:pPr marL="285750" indent="-285750">
              <a:buFontTx/>
              <a:buChar char="-"/>
            </a:pPr>
            <a:endParaRPr lang="de-CH" dirty="0"/>
          </a:p>
          <a:p>
            <a:pPr marL="285750" indent="-285750">
              <a:buFontTx/>
              <a:buChar char="-"/>
            </a:pPr>
            <a:endParaRPr lang="de-C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06A24-97B6-6559-4326-A5E14A3AD7A8}"/>
              </a:ext>
            </a:extLst>
          </p:cNvPr>
          <p:cNvSpPr txBox="1"/>
          <p:nvPr/>
        </p:nvSpPr>
        <p:spPr>
          <a:xfrm>
            <a:off x="7975600" y="3962400"/>
            <a:ext cx="81254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IMAGE_SIZE = 64</a:t>
            </a:r>
          </a:p>
          <a:p>
            <a:endParaRPr lang="de-CH" dirty="0"/>
          </a:p>
          <a:p>
            <a:r>
              <a:rPr lang="de-CH" dirty="0"/>
              <a:t>BATCH_SIZE = 1</a:t>
            </a:r>
          </a:p>
          <a:p>
            <a:endParaRPr lang="de-CH" dirty="0"/>
          </a:p>
          <a:p>
            <a:r>
              <a:rPr lang="de-CH" dirty="0"/>
              <a:t>EPOCHS = 20</a:t>
            </a:r>
          </a:p>
          <a:p>
            <a:endParaRPr lang="de-CH" dirty="0"/>
          </a:p>
          <a:p>
            <a:r>
              <a:rPr lang="de-CH" dirty="0"/>
              <a:t>TIMESTEPS = 1000</a:t>
            </a:r>
          </a:p>
          <a:p>
            <a:endParaRPr lang="de-CH" dirty="0"/>
          </a:p>
          <a:p>
            <a:r>
              <a:rPr lang="de-CH" dirty="0"/>
              <a:t>LR = 2e-4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FFCD9-547B-0FCE-57DA-10056E58B14A}"/>
              </a:ext>
            </a:extLst>
          </p:cNvPr>
          <p:cNvSpPr txBox="1"/>
          <p:nvPr/>
        </p:nvSpPr>
        <p:spPr>
          <a:xfrm>
            <a:off x="3479800" y="2090585"/>
            <a:ext cx="8125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Used features DDPM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77131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92BEC3-C7B6-9CF6-C381-A38E6630E3BE}"/>
              </a:ext>
            </a:extLst>
          </p:cNvPr>
          <p:cNvSpPr txBox="1"/>
          <p:nvPr/>
        </p:nvSpPr>
        <p:spPr>
          <a:xfrm>
            <a:off x="3760487" y="2402176"/>
            <a:ext cx="8125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Celeb A64 – RF Model</a:t>
            </a:r>
          </a:p>
          <a:p>
            <a:endParaRPr lang="en-US" b="1" dirty="0"/>
          </a:p>
          <a:p>
            <a:r>
              <a:rPr lang="en-US" b="1" dirty="0"/>
              <a:t>-  </a:t>
            </a:r>
            <a:r>
              <a:rPr lang="en-US" dirty="0" err="1"/>
              <a:t>Maxpooling</a:t>
            </a:r>
            <a:r>
              <a:rPr lang="en-US" dirty="0"/>
              <a:t> </a:t>
            </a:r>
          </a:p>
          <a:p>
            <a:r>
              <a:rPr lang="en-US" dirty="0"/>
              <a:t>- Residual Blocks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Unet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Loss MSE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de-C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8A15B-AB83-0A21-B7C2-B11EC409EA5D}"/>
              </a:ext>
            </a:extLst>
          </p:cNvPr>
          <p:cNvSpPr txBox="1"/>
          <p:nvPr/>
        </p:nvSpPr>
        <p:spPr>
          <a:xfrm>
            <a:off x="8432800" y="3279339"/>
            <a:ext cx="81254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/>
              <a:t>IMAGE_SIZE = 64</a:t>
            </a:r>
          </a:p>
          <a:p>
            <a:endParaRPr lang="de-CH" dirty="0"/>
          </a:p>
          <a:p>
            <a:r>
              <a:rPr lang="de-CH" dirty="0"/>
              <a:t>BATCH_SIZE = 64</a:t>
            </a:r>
          </a:p>
          <a:p>
            <a:endParaRPr lang="de-CH" dirty="0"/>
          </a:p>
          <a:p>
            <a:r>
              <a:rPr lang="de-CH" dirty="0"/>
              <a:t>EPOCHS = 3</a:t>
            </a:r>
          </a:p>
          <a:p>
            <a:endParaRPr lang="de-CH" dirty="0"/>
          </a:p>
          <a:p>
            <a:r>
              <a:rPr lang="de-CH" dirty="0"/>
              <a:t>TIMESTEPS = 1000</a:t>
            </a:r>
          </a:p>
          <a:p>
            <a:endParaRPr lang="de-CH" dirty="0"/>
          </a:p>
          <a:p>
            <a:r>
              <a:rPr lang="de-CH" dirty="0"/>
              <a:t>LR = 2e-4</a:t>
            </a:r>
          </a:p>
        </p:txBody>
      </p:sp>
    </p:spTree>
    <p:extLst>
      <p:ext uri="{BB962C8B-B14F-4D97-AF65-F5344CB8AC3E}">
        <p14:creationId xmlns:p14="http://schemas.microsoft.com/office/powerpoint/2010/main" val="1907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Custom</PresentationFormat>
  <Paragraphs>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joachim hofmann</dc:creator>
  <cp:lastModifiedBy>Alex Hanselmann</cp:lastModifiedBy>
  <cp:revision>7</cp:revision>
  <dcterms:created xsi:type="dcterms:W3CDTF">2006-08-16T00:00:00Z</dcterms:created>
  <dcterms:modified xsi:type="dcterms:W3CDTF">2026-05-29T14:11:40Z</dcterms:modified>
</cp:coreProperties>
</file>